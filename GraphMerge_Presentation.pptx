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3840480" cy="347472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000" b="1">
                <a:solidFill>
                  <a:srgbClr val="2997FF"/>
                </a:solidFill>
                <a:latin typeface="Arial"/>
              </a:defRPr>
            </a:pPr>
            <a:r>
              <a:t>RESEARCH &amp; REFERENCE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GraphMerge</a:t>
            </a:r>
          </a:p>
          <a:p>
            <a:pPr>
              <a:spcBef>
                <a:spcPts val="600"/>
              </a:spcBef>
              <a:defRPr sz="2100">
                <a:solidFill>
                  <a:srgbClr val="2997FF"/>
                </a:solidFill>
                <a:latin typeface="Arial"/>
              </a:defRPr>
            </a:pPr>
            <a:r>
              <a:t>Parallel AI Agent Collaboration as Graph-Structured Distributed Block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3328416" cy="23774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ctr">
              <a:defRPr sz="1700" b="1">
                <a:solidFill>
                  <a:srgbClr val="2997FF"/>
                </a:solidFill>
                <a:latin typeface="Arial"/>
              </a:defRPr>
            </a:pPr>
            <a:r>
              <a:t>Mathematical Certainty</a:t>
            </a:r>
          </a:p>
          <a:p>
            <a:pPr>
              <a:spcBef>
                <a:spcPts val="1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Formalized on arXiv:2610.30074. Casts parallel AI agent patch arbitration into Maximum Weight Independent Sets (MWIS) on Symbol Conflict Graphs G=(V,E).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063240"/>
            <a:ext cx="3328416" cy="23774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ctr">
              <a:defRPr sz="1700" b="1">
                <a:solidFill>
                  <a:srgbClr val="30D158"/>
                </a:solidFill>
                <a:latin typeface="Arial"/>
              </a:defRPr>
            </a:pPr>
            <a:r>
              <a:t>Two-Tier AST Precision</a:t>
            </a:r>
          </a:p>
          <a:p>
            <a:pPr>
              <a:spcBef>
                <a:spcPts val="1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Tree-Sitter syntax parsing detects Tier 1 syntactic definition overlaps and Tier 2 semantic def-use call graph collisions with linear O(K·S)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063240"/>
            <a:ext cx="3328416" cy="23774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ctr">
              <a:defRPr sz="1700" b="1">
                <a:solidFill>
                  <a:srgbClr val="BF5AF2"/>
                </a:solidFill>
                <a:latin typeface="Arial"/>
              </a:defRPr>
            </a:pPr>
            <a:r>
              <a:t>Universal MCP Ecosystem</a:t>
            </a:r>
          </a:p>
          <a:p>
            <a:pPr>
              <a:spcBef>
                <a:spcPts val="1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Production-grade Model Context Protocol (MCP) server delivering native 4-tool arbitration to Google Antigravity, Claude Code, and LangGraph.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9"/>
                </a:solidFill>
                <a:latin typeface="Arial"/>
              </a:defRPr>
            </a:pPr>
            <a:r>
              <a:t>Repository: https://github.com/Sandeep332005/graphmerge.git   •   arXiv:2610.30074   •   Verified on Python 3.10–3.15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D1D1F"/>
                </a:solidFill>
                <a:latin typeface="Arial"/>
              </a:defRPr>
            </a:pPr>
            <a:r>
              <a:t>The Multi-Agent Merge Dilemma</a:t>
            </a:r>
          </a:p>
          <a:p>
            <a:pPr>
              <a:spcBef>
                <a:spcPts val="400"/>
              </a:spcBef>
              <a:defRPr sz="1600">
                <a:solidFill>
                  <a:srgbClr val="86868B"/>
                </a:solidFill>
                <a:latin typeface="Arial"/>
              </a:defRPr>
            </a:pPr>
            <a:r>
              <a:t>Why parallel autonomous coding agents crash without graph-based arbitration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92608" tIns="292608"/>
          <a:lstStyle/>
          <a:p>
            <a:pPr algn="ctr">
              <a:defRPr sz="4800" b="1">
                <a:solidFill>
                  <a:srgbClr val="FF3B30"/>
                </a:solidFill>
                <a:latin typeface="Arial"/>
              </a:defRPr>
            </a:pPr>
            <a:r>
              <a:t>64%+</a:t>
            </a:r>
          </a:p>
          <a:p>
            <a:pPr>
              <a:spcBef>
                <a:spcPts val="800"/>
              </a:spcBef>
              <a:defRPr sz="1800" b="1">
                <a:solidFill>
                  <a:srgbClr val="1D1D1F"/>
                </a:solidFill>
                <a:latin typeface="Arial"/>
              </a:defRPr>
            </a:pPr>
            <a:r>
              <a:t>Syntactic Collisions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When 4+ agents write code concurrently, standard 3-way git merge triggers textual conflict markers (&lt;&lt;&lt;&lt;&lt;&lt;&lt;) on over 64% of candidate diffs, freezing autonomous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92608" tIns="292608"/>
          <a:lstStyle/>
          <a:p>
            <a:pPr algn="ctr">
              <a:defRPr sz="4800" b="1">
                <a:solidFill>
                  <a:srgbClr val="FF9500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800" b="1">
                <a:solidFill>
                  <a:srgbClr val="1D1D1F"/>
                </a:solidFill>
                <a:latin typeface="Arial"/>
              </a:defRPr>
            </a:pPr>
            <a:r>
              <a:t>Silent Semantic Breaks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Git only checks text lines. If Agent A alters a function signature in module A while Agent B calls it in module B, git reports a 'clean merge'—causing broken runtime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92608" tIns="292608"/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70%+</a:t>
            </a:r>
          </a:p>
          <a:p>
            <a:pPr>
              <a:spcBef>
                <a:spcPts val="800"/>
              </a:spcBef>
              <a:defRPr sz="1800" b="1">
                <a:solidFill>
                  <a:srgbClr val="1D1D1F"/>
                </a:solidFill>
                <a:latin typeface="Arial"/>
              </a:defRPr>
            </a:pPr>
            <a:r>
              <a:t>Wasted Compute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Naive merge strategies either discard failing agent proposals entirely or serialize tasks into single-threaded queues, destroying concurrency speedup and burning API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Mathematical Optimization Framework</a:t>
            </a:r>
          </a:p>
          <a:p>
            <a:pPr>
              <a:spcBef>
                <a:spcPts val="400"/>
              </a:spcBef>
              <a:defRPr sz="1600">
                <a:solidFill>
                  <a:srgbClr val="2997FF"/>
                </a:solidFill>
                <a:latin typeface="Arial"/>
              </a:defRPr>
            </a:pPr>
            <a:r>
              <a:t>Discrete Block Optimization on Symbol Conflict Graphs (arXiv:2610.30074)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800" b="1">
                <a:solidFill>
                  <a:srgbClr val="2997FF"/>
                </a:solidFill>
                <a:latin typeface="Arial"/>
              </a:defRPr>
            </a:pPr>
            <a:r>
              <a:t>Symbol Conflict Graph G = (V, E)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Candidate Patch Nodes (V):</a:t>
            </a:r>
          </a:p>
          <a:p>
            <a:pPr>
              <a:spcBef>
                <a:spcPts val="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Each parallel agent proposal p_i represents an atomic block update with empirical verified score improvement Delta f_i &gt; 0.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Conflict Edges (E):</a:t>
            </a:r>
          </a:p>
          <a:p>
            <a:pPr>
              <a:spcBef>
                <a:spcPts val="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An undirected edge (p_i, p_j) exists if proposals collide under Tier 1 syntactic definitions or Tier 2 def-use call dependencies.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Discrete Objective:</a:t>
            </a:r>
          </a:p>
          <a:p>
            <a:pPr>
              <a:spcBef>
                <a:spcPts val="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Solve the Maximum Weight Independent Set (MWIS) I* that maximizes total accepted progress: max sum_{i in I} Delta f_i subject to no two nodes sharing an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800" b="1">
                <a:solidFill>
                  <a:srgbClr val="30D158"/>
                </a:solidFill>
                <a:latin typeface="Arial"/>
              </a:defRPr>
            </a:pPr>
            <a:r>
              <a:t>Theoretical Preservation Bound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Theorem 1 (Fractional Bound Guarantee):</a:t>
            </a:r>
          </a:p>
          <a:p>
            <a:pPr>
              <a:spcBef>
                <a:spcPts val="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In any cycle t, GraphMerge guarantees that the accepted set preserves at least a 1 / chi_f(G) fraction of total proposed progress: sum_{i in I*} Delta f_i &gt;= (1 / chi_f(G)) * sum_{i=1}^K Delta f_i, where chi_f(G) is the fractional chromatic number.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Bounded Degradation:</a:t>
            </a:r>
          </a:p>
          <a:p>
            <a:pPr>
              <a:spcBef>
                <a:spcPts val="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Even under dense conflict graphs, progress degradation is provably bounded, completely preventing rollback stagnation.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Geometric Multi-Cycle Convergence:</a:t>
            </a:r>
          </a:p>
          <a:p>
            <a:pPr>
              <a:spcBef>
                <a:spcPts val="2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Deferred proposals are re-grounded against committed baseline s_t. The system provably converges to zero collisions in O(log K) rounds.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D1D1F"/>
                </a:solidFill>
                <a:latin typeface="Arial"/>
              </a:defRPr>
            </a:pPr>
            <a:r>
              <a:t>Two-Tier AST Conflict Detection</a:t>
            </a:r>
          </a:p>
          <a:p>
            <a:pPr>
              <a:spcBef>
                <a:spcPts val="400"/>
              </a:spcBef>
              <a:defRPr sz="1600">
                <a:solidFill>
                  <a:srgbClr val="86868B"/>
                </a:solidFill>
                <a:latin typeface="Arial"/>
              </a:defRPr>
            </a:pPr>
            <a:r>
              <a:t>Static Tree-Sitter analysis isolates syntactic and semantic dependency conflicts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800" b="1">
                <a:solidFill>
                  <a:srgbClr val="FF3B30"/>
                </a:solidFill>
                <a:latin typeface="Arial"/>
              </a:defRPr>
            </a:pPr>
            <a:r>
              <a:t>TIER 1: Syntactic Scope Overlaps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Scope: Intramodule functions, classes, and method definitions.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Detection Rule: Tree-Sitter parses diff hunk line boundaries and maps them to concrete syntax tree symbols. If two diffs mutate the exact same symbol scope in the same file, a Tier 1 conflict edge is created.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Concrete Example: Agent 1 edits def acquire_connection() in db_pool.py.</a:t>
            </a:r>
            <a:br/>
            <a:r>
              <a:t>Agent 2 also modifies def acquire_connection() in db_pool.py.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Resolution: MWIS admits the higher verified local gain patch into baseline s_1. The competing patch is deferred to Cycle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800" b="1">
                <a:solidFill>
                  <a:srgbClr val="0071E3"/>
                </a:solidFill>
                <a:latin typeface="Arial"/>
              </a:defRPr>
            </a:pPr>
            <a:r>
              <a:t>TIER 2: Semantic Def-Use Call Graphs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Scope: Cross-module call graph and import reference dependencies.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Detection Rule: Tree-Sitter extracts modified definitions from Patch A and detects newly introduced or altered call sites / import statements in Patch B targeting that definition.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Concrete Example: Agent 1 changes signature def calculate_tax(amount, rate) in billing.py.</a:t>
            </a:r>
            <a:br/>
            <a:r>
              <a:t>Agent 2 introduces calculate_tax(total) in checkout.py.</a:t>
            </a:r>
          </a:p>
          <a:p>
            <a:pPr>
              <a:spcBef>
                <a:spcPts val="1000"/>
              </a:spcBef>
              <a:defRPr sz="1300">
                <a:solidFill>
                  <a:srgbClr val="333336"/>
                </a:solidFill>
                <a:latin typeface="Arial"/>
              </a:defRPr>
            </a:pPr>
            <a:r>
              <a:t>Resolution: Flagged as a Tier 2 Def-Use collision. Standard git would merge cleanly and fail at runtime; GraphMerge isolates and blocks the broken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Architecture &amp; Excalidraw Workflow</a:t>
            </a:r>
          </a:p>
          <a:p>
            <a:pPr>
              <a:spcBef>
                <a:spcPts val="400"/>
              </a:spcBef>
              <a:defRPr sz="1600">
                <a:solidFill>
                  <a:srgbClr val="2997FF"/>
                </a:solidFill>
                <a:latin typeface="Arial"/>
              </a:defRPr>
            </a:pPr>
            <a:r>
              <a:t>Six-layer orchestration pipeline from task fan-out to state commitment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931920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Merg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657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37760" y="1737360"/>
            <a:ext cx="6492240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2997FF"/>
                </a:solidFill>
                <a:latin typeface="Arial"/>
              </a:defRPr>
            </a:pPr>
            <a:r>
              <a:t>Six-Layer Distributed Orchestration Flow</a:t>
            </a:r>
          </a:p>
          <a:p>
            <a:pPr>
              <a:spcBef>
                <a:spcPts val="1200"/>
              </a:spcBef>
              <a:defRPr sz="1300" b="1">
                <a:solidFill>
                  <a:srgbClr val="2997FF"/>
                </a:solidFill>
                <a:latin typeface="Arial"/>
              </a:defRPr>
            </a:pPr>
            <a:r>
              <a:t>Layers 1–2: Parallel Ingestion &amp; Fan-Out</a:t>
            </a:r>
          </a:p>
          <a:p>
            <a:pPr>
              <a:spcBef>
                <a:spcPts val="3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Task backlog is dispatched across K independent worker agents running concurrently in isolated git worktrees or branches, producing candidate diffs p_1, ..., p_K.</a:t>
            </a:r>
          </a:p>
          <a:p>
            <a:pPr>
              <a:spcBef>
                <a:spcPts val="1200"/>
              </a:spcBef>
              <a:defRPr sz="1300" b="1">
                <a:solidFill>
                  <a:srgbClr val="30D158"/>
                </a:solidFill>
                <a:latin typeface="Arial"/>
              </a:defRPr>
            </a:pPr>
            <a:r>
              <a:t>Layers 3–4: AST Analysis &amp; Discrete MWIS Engine</a:t>
            </a:r>
          </a:p>
          <a:p>
            <a:pPr>
              <a:spcBef>
                <a:spcPts val="3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Tree-Sitter parses diffs into symbol touch sets; inverted index builds G=(V,E) in linear O(K·S) time. The MWIS optimizer solves for non-conflicting subset I* while deferring conflicted patches.</a:t>
            </a:r>
          </a:p>
          <a:p>
            <a:pPr>
              <a:spcBef>
                <a:spcPts val="1200"/>
              </a:spcBef>
              <a:defRPr sz="1300" b="1">
                <a:solidFill>
                  <a:srgbClr val="FF9F0A"/>
                </a:solidFill>
                <a:latin typeface="Arial"/>
              </a:defRPr>
            </a:pPr>
            <a:r>
              <a:t>Layers 5–6: Sandbox Invariant &amp; Multi-Turn Convergence</a:t>
            </a:r>
          </a:p>
          <a:p>
            <a:pPr>
              <a:spcBef>
                <a:spcPts val="3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Docker controller tests candidate patches in I* to ensure objective score improvements f(s_1) &gt; f(s_0). Accepted patches are atomically committed; deferred patches are adapted in Cycle 2.</a:t>
            </a:r>
          </a:p>
          <a:p>
            <a:pPr>
              <a:spcBef>
                <a:spcPts val="1400"/>
              </a:spcBef>
              <a:defRPr sz="1100">
                <a:solidFill>
                  <a:srgbClr val="646469"/>
                </a:solidFill>
                <a:latin typeface="Arial"/>
              </a:defRPr>
            </a:pPr>
            <a:r>
              <a:t>Excalidraw files available in repo: GraphMerge_Flow.excalidraw and GraphMerge_Flow.md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Model Context Protocol (MCP) Server</a:t>
            </a:r>
          </a:p>
          <a:p>
            <a:pPr>
              <a:spcBef>
                <a:spcPts val="400"/>
              </a:spcBef>
              <a:defRPr sz="1600">
                <a:solidFill>
                  <a:srgbClr val="2997FF"/>
                </a:solidFill>
                <a:latin typeface="Arial"/>
              </a:defRPr>
            </a:pPr>
            <a:r>
              <a:t>Standardized native tools for AI coding agents over stdio JSON-RPC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2997FF"/>
                </a:solidFill>
                <a:latin typeface="Courier New"/>
              </a:defRPr>
            </a:pPr>
            <a:r>
              <a:t>arbitrate_diff_patches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Primary End-to-End Arbiter</a:t>
            </a:r>
          </a:p>
          <a:p>
            <a:pPr>
              <a:spcBef>
                <a:spcPts val="600"/>
              </a:spcBef>
              <a:defRPr sz="1100">
                <a:solidFill>
                  <a:srgbClr val="86868B"/>
                </a:solidFill>
                <a:latin typeface="Arial"/>
              </a:defRPr>
            </a:pPr>
            <a:r>
              <a:t>Input: JSON array of diff patches with empirical weights. Runs Tree-Sitter AST parsing, builds 2-tier conflict graph, and returns certified independent set I* with preservation guarantees.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120640" cy="205740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0D158"/>
                </a:solidFill>
                <a:latin typeface="Courier New"/>
              </a:defRPr>
            </a:pPr>
            <a:r>
              <a:t>check_patch_collision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Pair-Wise Collision Pre-Check</a:t>
            </a:r>
          </a:p>
          <a:p>
            <a:pPr>
              <a:spcBef>
                <a:spcPts val="600"/>
              </a:spcBef>
              <a:defRPr sz="1100">
                <a:solidFill>
                  <a:srgbClr val="86868B"/>
                </a:solidFill>
                <a:latin typeface="Arial"/>
              </a:defRPr>
            </a:pPr>
            <a:r>
              <a:t>Input: Two diffs patch_a and patch_b. Compares definitions and call sites, returning boolean has_conflict, conflict_type (Tier 1 vs Tier 2), and colliding symbol.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5740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BF5AF2"/>
                </a:solidFill>
                <a:latin typeface="Courier New"/>
              </a:defRPr>
            </a:pPr>
            <a:r>
              <a:t>solve_merge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Direct MWIS Discrete Optimizer</a:t>
            </a:r>
          </a:p>
          <a:p>
            <a:pPr>
              <a:spcBef>
                <a:spcPts val="600"/>
              </a:spcBef>
              <a:defRPr sz="1100">
                <a:solidFill>
                  <a:srgbClr val="86868B"/>
                </a:solidFill>
                <a:latin typeface="Arial"/>
              </a:defRPr>
            </a:pPr>
            <a:r>
              <a:t>Input: JSON string of proposals with pre-extracted symbol touch sets. Solves Maximum Weight Independent Set directly and outputs fractional bound guarantee 1/chi_f(G).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120640" cy="205740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F9F0A"/>
                </a:solidFill>
                <a:latin typeface="Courier New"/>
              </a:defRPr>
            </a:pPr>
            <a:r>
              <a:t>generate_reprompt_instruction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Adaptive Agent Feedback</a:t>
            </a:r>
          </a:p>
          <a:p>
            <a:pPr>
              <a:spcBef>
                <a:spcPts val="600"/>
              </a:spcBef>
              <a:defRPr sz="1100">
                <a:solidFill>
                  <a:srgbClr val="86868B"/>
                </a:solidFill>
                <a:latin typeface="Arial"/>
              </a:defRPr>
            </a:pPr>
            <a:r>
              <a:t>Input: Deferred task ID, colliding patches, and colliding symbols. Formulates targeted natural language instruction directing the agent to ground changes against the updated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D1D1F"/>
                </a:solidFill>
                <a:latin typeface="Arial"/>
              </a:defRPr>
            </a:pPr>
            <a:r>
              <a:t>Working Parallel Benchmark: 8 Concurrent Agents</a:t>
            </a:r>
          </a:p>
          <a:p>
            <a:pPr>
              <a:spcBef>
                <a:spcPts val="400"/>
              </a:spcBef>
              <a:defRPr sz="1600">
                <a:solidFill>
                  <a:srgbClr val="86868B"/>
                </a:solidFill>
                <a:latin typeface="Arial"/>
              </a:defRPr>
            </a:pPr>
            <a:r>
              <a:t>Empirical validation from live benchmark execution on benchmarks/parallel_tasking_demo.py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5059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3200" b="1">
                <a:solidFill>
                  <a:srgbClr val="0071E3"/>
                </a:solidFill>
                <a:latin typeface="Arial"/>
              </a:defRPr>
            </a:pPr>
            <a:r>
              <a:t>19.0 ms</a:t>
            </a:r>
          </a:p>
          <a:p>
            <a:pPr>
              <a:spcBef>
                <a:spcPts val="400"/>
              </a:spcBef>
              <a:defRPr sz="1300" b="1">
                <a:solidFill>
                  <a:srgbClr val="1D1D1F"/>
                </a:solidFill>
                <a:latin typeface="Arial"/>
              </a:defRPr>
            </a:pPr>
            <a:r>
              <a:t>Parallel Wall-Clock</a:t>
            </a:r>
          </a:p>
          <a:p>
            <a:pPr>
              <a:spcBef>
                <a:spcPts val="200"/>
              </a:spcBef>
              <a:defRPr sz="1000">
                <a:solidFill>
                  <a:srgbClr val="86868B"/>
                </a:solidFill>
                <a:latin typeface="Arial"/>
              </a:defRPr>
            </a:pPr>
            <a:r>
              <a:t>8 tasks dispatched across worker threads simultaneously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5059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3200" b="1">
                <a:solidFill>
                  <a:srgbClr val="34C759"/>
                </a:solidFill>
                <a:latin typeface="Arial"/>
              </a:defRPr>
            </a:pPr>
            <a:r>
              <a:t>~6.3x</a:t>
            </a:r>
          </a:p>
          <a:p>
            <a:pPr>
              <a:spcBef>
                <a:spcPts val="400"/>
              </a:spcBef>
              <a:defRPr sz="1300" b="1">
                <a:solidFill>
                  <a:srgbClr val="1D1D1F"/>
                </a:solidFill>
                <a:latin typeface="Arial"/>
              </a:defRPr>
            </a:pPr>
            <a:r>
              <a:t>Concurrency Speedup</a:t>
            </a:r>
          </a:p>
          <a:p>
            <a:pPr>
              <a:spcBef>
                <a:spcPts val="200"/>
              </a:spcBef>
              <a:defRPr sz="1000">
                <a:solidFill>
                  <a:srgbClr val="86868B"/>
                </a:solidFill>
                <a:latin typeface="Arial"/>
              </a:defRPr>
            </a:pPr>
            <a:r>
              <a:t>Versus sequential single-agent execution latency (~120ms)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45059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3200" b="1">
                <a:solidFill>
                  <a:srgbClr val="AF52DE"/>
                </a:solidFill>
                <a:latin typeface="Arial"/>
              </a:defRPr>
            </a:pPr>
            <a:r>
              <a:t>0.045 ms</a:t>
            </a:r>
          </a:p>
          <a:p>
            <a:pPr>
              <a:spcBef>
                <a:spcPts val="400"/>
              </a:spcBef>
              <a:defRPr sz="1300" b="1">
                <a:solidFill>
                  <a:srgbClr val="1D1D1F"/>
                </a:solidFill>
                <a:latin typeface="Arial"/>
              </a:defRPr>
            </a:pPr>
            <a:r>
              <a:t>Graph Build Latency</a:t>
            </a:r>
          </a:p>
          <a:p>
            <a:pPr>
              <a:spcBef>
                <a:spcPts val="200"/>
              </a:spcBef>
              <a:defRPr sz="1000">
                <a:solidFill>
                  <a:srgbClr val="86868B"/>
                </a:solidFill>
                <a:latin typeface="Arial"/>
              </a:defRPr>
            </a:pPr>
            <a:r>
              <a:t>Linear-time inverted index mapping 8 proposals to conflict edges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45059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3200" b="1">
                <a:solidFill>
                  <a:srgbClr val="FF9500"/>
                </a:solidFill>
                <a:latin typeface="Arial"/>
              </a:defRPr>
            </a:pPr>
            <a:r>
              <a:t>0.428 ms</a:t>
            </a:r>
          </a:p>
          <a:p>
            <a:pPr>
              <a:spcBef>
                <a:spcPts val="400"/>
              </a:spcBef>
              <a:defRPr sz="1300" b="1">
                <a:solidFill>
                  <a:srgbClr val="1D1D1F"/>
                </a:solidFill>
                <a:latin typeface="Arial"/>
              </a:defRPr>
            </a:pPr>
            <a:r>
              <a:t>MWIS Solve Time</a:t>
            </a:r>
          </a:p>
          <a:p>
            <a:pPr>
              <a:spcBef>
                <a:spcPts val="200"/>
              </a:spcBef>
              <a:defRPr sz="1000">
                <a:solidFill>
                  <a:srgbClr val="86868B"/>
                </a:solidFill>
                <a:latin typeface="Arial"/>
              </a:defRPr>
            </a:pPr>
            <a:r>
              <a:t>Exact discrete optimization resolving 2 conflict clusters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1D1D1F"/>
                </a:solidFill>
                <a:latin typeface="Arial"/>
              </a:defRPr>
            </a:pPr>
            <a:r>
              <a:t>Benchmark Workload Arbitration Analysis</a:t>
            </a:r>
          </a:p>
          <a:p>
            <a:pPr>
              <a:spcBef>
                <a:spcPts val="600"/>
              </a:spcBef>
              <a:defRPr sz="1100">
                <a:solidFill>
                  <a:srgbClr val="333336"/>
                </a:solidFill>
                <a:latin typeface="Arial"/>
              </a:defRPr>
            </a:pPr>
            <a:r>
              <a:t>• Sub-Group 1 (Database): T1: Optimize Connection Pool (+14.5) vs T2: Connection Timeout (+9.0) | Tier 1 on db_pool.py:acquire_connection → T1 Accepted (+14.5), T2 Deferred to Cycle 2</a:t>
            </a:r>
          </a:p>
          <a:p>
            <a:pPr>
              <a:spcBef>
                <a:spcPts val="600"/>
              </a:spcBef>
              <a:defRPr sz="1100">
                <a:solidFill>
                  <a:srgbClr val="333336"/>
                </a:solidFill>
                <a:latin typeface="Arial"/>
              </a:defRPr>
            </a:pPr>
            <a:r>
              <a:t>• Sub-Group 2 (Auth/Security): T3: JWT Expiry Check (+16.0) vs T4: JWT Signature Validation (+11.5) | Tier 1 on auth_jwt.py:decode_token → T3 Accepted (+16.0), T4 Deferred to Cycle 2</a:t>
            </a:r>
          </a:p>
          <a:p>
            <a:pPr>
              <a:spcBef>
                <a:spcPts val="600"/>
              </a:spcBef>
              <a:defRPr sz="1100">
                <a:solidFill>
                  <a:srgbClr val="333336"/>
                </a:solidFill>
                <a:latin typeface="Arial"/>
              </a:defRPr>
            </a:pPr>
            <a:r>
              <a:t>• Sub-Group 3 (Microservices): T5: Redis Client (+18.0) • T6: StatsD (+13.0) • T7: Health Probe (+8.5) • T8: Logger (+10.0) | Independent (Zero AST Collisions) → All 4 Accepted Concurrently (+49.5)</a:t>
            </a:r>
          </a:p>
          <a:p>
            <a:pPr>
              <a:spcBef>
                <a:spcPts val="1000"/>
              </a:spcBef>
              <a:defRPr sz="1200" b="1">
                <a:solidFill>
                  <a:srgbClr val="34C759"/>
                </a:solidFill>
                <a:latin typeface="Arial"/>
              </a:defRPr>
            </a:pPr>
            <a:r>
              <a:t>Result: Cycle 1 accepted 6 patches (+80.0 gain); Cycle 2 adapted 2 patches (+20.5 gain). Full convergence in 2 rounds.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D1D1F"/>
                </a:solidFill>
                <a:latin typeface="Arial"/>
              </a:defRPr>
            </a:pPr>
            <a:r>
              <a:t>Multi-Turn StateGraph Convergence</a:t>
            </a:r>
          </a:p>
          <a:p>
            <a:pPr>
              <a:spcBef>
                <a:spcPts val="400"/>
              </a:spcBef>
              <a:defRPr sz="1600">
                <a:solidFill>
                  <a:srgbClr val="86868B"/>
                </a:solidFill>
                <a:latin typeface="Arial"/>
              </a:defRPr>
            </a:pPr>
            <a:r>
              <a:t>How the LangGraph supervisor guides parallel agents from conflict to 100% committed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1200" b="1">
                <a:solidFill>
                  <a:srgbClr val="0071E3"/>
                </a:solidFill>
                <a:latin typeface="Arial"/>
              </a:defRPr>
            </a:pPr>
            <a:r>
              <a:t>6 / 8 Committed (75%)</a:t>
            </a:r>
          </a:p>
          <a:p>
            <a:pPr>
              <a:spcBef>
                <a:spcPts val="800"/>
              </a:spcBef>
              <a:defRPr sz="1700" b="1">
                <a:solidFill>
                  <a:srgbClr val="1D1D1F"/>
                </a:solidFill>
                <a:latin typeface="Arial"/>
              </a:defRPr>
            </a:pPr>
            <a:r>
              <a:t>CYCLE 1: Arbitration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8 parallel patches evaluated. 6 patches accepted (+80.0 gain). 2 patches deferred due to AST collisions. Accepted patches are atomically staged and committed into baseline s_1.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1200" b="1">
                <a:solidFill>
                  <a:srgbClr val="FF9500"/>
                </a:solidFill>
                <a:latin typeface="Arial"/>
              </a:defRPr>
            </a:pPr>
            <a:r>
              <a:t>Context Re-grounding</a:t>
            </a:r>
          </a:p>
          <a:p>
            <a:pPr>
              <a:spcBef>
                <a:spcPts val="800"/>
              </a:spcBef>
              <a:defRPr sz="1700" b="1">
                <a:solidFill>
                  <a:srgbClr val="1D1D1F"/>
                </a:solidFill>
                <a:latin typeface="Arial"/>
              </a:defRPr>
            </a:pPr>
            <a:r>
              <a:t>CYCLE 1 -&gt; 2: Adaptive Feedback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Coordinator calls generate_reprompt_instruction(). Deferred agents receive the updated baseline s_1, colliding patch context, and explicit guidance to re-anchor their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1200" b="1">
                <a:solidFill>
                  <a:srgbClr val="34C759"/>
                </a:solidFill>
                <a:latin typeface="Arial"/>
              </a:defRPr>
            </a:pPr>
            <a:r>
              <a:t>8 / 8 Committed (100%)</a:t>
            </a:r>
          </a:p>
          <a:p>
            <a:pPr>
              <a:spcBef>
                <a:spcPts val="800"/>
              </a:spcBef>
              <a:defRPr sz="1700" b="1">
                <a:solidFill>
                  <a:srgbClr val="1D1D1F"/>
                </a:solidFill>
                <a:latin typeface="Arial"/>
              </a:defRPr>
            </a:pPr>
            <a:r>
              <a:t>CYCLE 2: Full Convergence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Deferred agents regenerate diffs based on baseline s_1. AST analyzer confirms 0 collisions remaining. Both patches committed into baseline s_2. 100% build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D1D1F"/>
                </a:solidFill>
                <a:latin typeface="Arial"/>
              </a:defRPr>
            </a:pPr>
            <a:r>
              <a:t>Empirical Paradigm Comparison</a:t>
            </a:r>
          </a:p>
          <a:p>
            <a:pPr>
              <a:spcBef>
                <a:spcPts val="400"/>
              </a:spcBef>
              <a:defRPr sz="1600">
                <a:solidFill>
                  <a:srgbClr val="86868B"/>
                </a:solidFill>
                <a:latin typeface="Arial"/>
              </a:defRPr>
            </a:pPr>
            <a:r>
              <a:t>Benchmarking GraphMerge against industry-standard multi-agent collaboration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defRPr sz="1600" b="1">
                <a:solidFill>
                  <a:srgbClr val="FF3B30"/>
                </a:solidFill>
                <a:latin typeface="Arial"/>
              </a:defRPr>
            </a:pPr>
            <a:r>
              <a:t>Git 3-Way Merge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Conflict Rate: 64%+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Semantic Safety: None (Broken def-use contracts slip through)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Throughput: Drops sharply with parallel agents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Failure Mode: Textual conflict markers break builds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defRPr sz="1600" b="1">
                <a:solidFill>
                  <a:srgbClr val="FF9500"/>
                </a:solidFill>
                <a:latin typeface="Arial"/>
              </a:defRPr>
            </a:pPr>
            <a:r>
              <a:t>Sequential Single-Agent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Conflict Rate: 0%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Semantic Safety: High (Monolithic sequential commits)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Throughput: 1.0x (Zero parallel speedup)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Failure Mode: Extreme wall-clock latency for large backlogs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defRPr sz="1600" b="1">
                <a:solidFill>
                  <a:srgbClr val="0071E3"/>
                </a:solidFill>
                <a:latin typeface="Arial"/>
              </a:defRPr>
            </a:pPr>
            <a:r>
              <a:t>Speculative Decoding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Conflict Rate: High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Semantic Safety: Medium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Throughput: Moderate (30-40% compute discarded on rollback)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Failure Mode: High token burn rate and uncoordinated retries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defRPr sz="1600" b="1">
                <a:solidFill>
                  <a:srgbClr val="34C759"/>
                </a:solidFill>
                <a:latin typeface="Arial"/>
              </a:defRPr>
            </a:pPr>
            <a:r>
              <a:t>GraphMerge (MWIS)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Conflict Rate: 0% Unhandled Collisions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Semantic Safety: 100% (Two-Tier AST checking)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Throughput: ~6.3x Concurrent Speedup</a:t>
            </a:r>
          </a:p>
          <a:p>
            <a:pPr>
              <a:spcBef>
                <a:spcPts val="800"/>
              </a:spcBef>
              <a:defRPr sz="1200">
                <a:solidFill>
                  <a:srgbClr val="333336"/>
                </a:solidFill>
                <a:latin typeface="Arial"/>
              </a:defRPr>
            </a:pPr>
            <a:r>
              <a:t>• Theoretical Bound: Guaranteed &gt;= 1/chi_f(G)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Developer Experience &amp; Tooling</a:t>
            </a:r>
          </a:p>
          <a:p>
            <a:pPr>
              <a:spcBef>
                <a:spcPts val="400"/>
              </a:spcBef>
              <a:defRPr sz="1600">
                <a:solidFill>
                  <a:srgbClr val="2997FF"/>
                </a:solidFill>
                <a:latin typeface="Arial"/>
              </a:defRPr>
            </a:pPr>
            <a:r>
              <a:t>Seamless integration into developer workflows, IDEs, and autonomous agent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1800" b="1">
                <a:solidFill>
                  <a:srgbClr val="2997FF"/>
                </a:solidFill>
                <a:latin typeface="Arial"/>
              </a:defRPr>
            </a:pPr>
            <a:r>
              <a:t>Unified CLI Tool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Run GraphMerge directly from terminal:</a:t>
            </a:r>
            <a:br/>
            <a:r>
              <a:t>$ graphmerge run --workspace . --tasks tasks.json</a:t>
            </a:r>
            <a:br/>
            <a:r>
              <a:t>Includes rich progress bars, ASCII conflict graphs, and structured JSON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1800" b="1">
                <a:solidFill>
                  <a:srgbClr val="30D158"/>
                </a:solidFill>
                <a:latin typeface="Arial"/>
              </a:defRPr>
            </a:pPr>
            <a:r>
              <a:t>Autonomous MCP Server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Native stdio protocol for Antigravity &amp; Claude Code:</a:t>
            </a:r>
            <a:br/>
            <a:r>
              <a:t>$ graphmerge-mcp</a:t>
            </a:r>
            <a:br/>
            <a:r>
              <a:t>Configured in ~/.claude.json and ~/.gemini/config/mcp_config.json for instant agent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/>
          <a:lstStyle/>
          <a:p>
            <a:pPr algn="ctr">
              <a:defRPr sz="1800" b="1">
                <a:solidFill>
                  <a:srgbClr val="BF5AF2"/>
                </a:solidFill>
                <a:latin typeface="Arial"/>
              </a:defRPr>
            </a:pPr>
            <a:r>
              <a:t>Python SDK &amp; LangGraph</a:t>
            </a:r>
          </a:p>
          <a:p>
            <a:pPr>
              <a:spcBef>
                <a:spcPts val="1400"/>
              </a:spcBef>
              <a:defRPr sz="1300">
                <a:solidFill>
                  <a:srgbClr val="86868B"/>
                </a:solidFill>
                <a:latin typeface="Arial"/>
              </a:defRPr>
            </a:pPr>
            <a:r>
              <a:t>Embed directly into custom agent orchestrators:</a:t>
            </a:r>
            <a:br/>
            <a:r>
              <a:t>from graphmerge.optimization.solver import ConflictGraphOptimizer</a:t>
            </a:r>
            <a:br/>
            <a:r>
              <a:t>optimizer = ConflictGraphOptimizer()</a:t>
            </a:r>
            <a:br/>
            <a:r>
              <a:t>accepted, rejected = optimizer.solve_mwis()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Summary &amp; Future Horizons</a:t>
            </a:r>
          </a:p>
          <a:p>
            <a:pPr>
              <a:spcBef>
                <a:spcPts val="400"/>
              </a:spcBef>
              <a:defRPr sz="1600">
                <a:solidFill>
                  <a:srgbClr val="2997FF"/>
                </a:solidFill>
                <a:latin typeface="Arial"/>
              </a:defRPr>
            </a:pPr>
            <a:r>
              <a:t>Unlocking scalable multi-agent software engineering through mathematical coordination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2997FF"/>
                </a:solidFill>
                <a:latin typeface="Arial"/>
              </a:defRPr>
            </a:pPr>
            <a:r>
              <a:t>Key Takeaways</a:t>
            </a:r>
          </a:p>
          <a:p>
            <a:pPr>
              <a:spcBef>
                <a:spcPts val="8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• Solved Mathematical Formulation: Transforms chaotic text conflicts into a clean Maximum Weight Independent Set problem on AST symbol graphs.</a:t>
            </a:r>
          </a:p>
          <a:p>
            <a:pPr>
              <a:spcBef>
                <a:spcPts val="8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• Sub-Millisecond Efficiency: Tree-Sitter inverted index builds conflict graphs in 0.045ms; MWIS optimizes in 0.428ms, adding virtually zero overhead to agent cycles.</a:t>
            </a:r>
          </a:p>
          <a:p>
            <a:pPr>
              <a:spcBef>
                <a:spcPts val="8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• Guaranteed Progress: Theoretical 1 / chi_f(G) fractional preservation bound ensures continuous geometric progress without rollback cascades.</a:t>
            </a:r>
          </a:p>
          <a:p>
            <a:pPr>
              <a:spcBef>
                <a:spcPts val="800"/>
              </a:spcBef>
              <a:defRPr sz="1200">
                <a:solidFill>
                  <a:srgbClr val="86868B"/>
                </a:solidFill>
                <a:latin typeface="Arial"/>
              </a:defRPr>
            </a:pPr>
            <a:r>
              <a:t>• Native Agent Ecosystem: Production-ready MCP server seamlessly integrated into Antigravity, Claude Code, and LangGraph.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30D158"/>
                </a:solidFill>
                <a:latin typeface="Arial"/>
              </a:defRPr>
            </a:pPr>
            <a:r>
              <a:t>Roadmap &amp; Get Started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Multi-Language AST Expansion: Extending Tree-Sitter grammars from Python to TypeScript, Rust, Go, and Java for polyglot microservice repos.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Distributed Consensus: Scaling arbitration across federated agent swarms operating across diverse cloud environments and repositories.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Dynamic Weight Estimation: Integrating LLM self-evaluators to compute fine-grained empirical gain weights Delta f_i dynamically.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GitHub Repository: https://github.com/Sandeep332005/graphmerge.git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Citation: arXiv:2610.30074 (October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